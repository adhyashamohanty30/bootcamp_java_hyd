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A237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182880"/>
            <a:ext cx="2011680" cy="2011680"/>
          </a:xfrm>
          <a:prstGeom prst="ellipse">
            <a:avLst/>
          </a:prstGeom>
          <a:solidFill>
            <a:srgbClr val="1E88E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4754880"/>
            <a:ext cx="2286000" cy="3886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SOFTWARE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300" kern="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 CYCLE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process of building reliable, efficient, and high-quality software systems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Adhyasha Mohanty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873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Arpita 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885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Pallab Banerjee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89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Singh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SDLC?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"SDLC is a structured process used to plan, create, test, and deliver software in a systematic way — ensuring quality and efficiency at every stage."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77440"/>
            <a:ext cx="64008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41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Structured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set of phases from concept to deployment, keeping teams aligned and productive.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377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377440"/>
            <a:ext cx="64008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441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Iterative Process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upon the previous, with room for feedback loops and continuous improvement.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64008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30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Collaboration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developers, testers, designers, and stakeholders working together at every phase.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5661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566160"/>
            <a:ext cx="64008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630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Quality Assurance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checkpoints at each stage ensure bugs are caught early and standards are maintained.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7 PHASES OF SDLC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lifecycle from idea to operation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17320" y="1920240"/>
            <a:ext cx="73152" cy="6400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88720"/>
            <a:ext cx="1097280" cy="1188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07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1920240"/>
            <a:ext cx="73152" cy="6400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9" name="Shape 7"/>
          <p:cNvSpPr/>
          <p:nvPr/>
        </p:nvSpPr>
        <p:spPr>
          <a:xfrm>
            <a:off x="1490472" y="1188720"/>
            <a:ext cx="1097280" cy="11887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0" name="Text 8"/>
          <p:cNvSpPr/>
          <p:nvPr/>
        </p:nvSpPr>
        <p:spPr>
          <a:xfrm>
            <a:off x="1490472" y="1207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90472" y="162763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8184" y="1920240"/>
            <a:ext cx="73152" cy="6400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660904" y="1188720"/>
            <a:ext cx="1097280" cy="118872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4" name="Text 12"/>
          <p:cNvSpPr/>
          <p:nvPr/>
        </p:nvSpPr>
        <p:spPr>
          <a:xfrm>
            <a:off x="2660904" y="1207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0904" y="162763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28616" y="1920240"/>
            <a:ext cx="73152" cy="6400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31336" y="1188720"/>
            <a:ext cx="1097280" cy="1188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3831336" y="1207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31336" y="162763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99048" y="1920240"/>
            <a:ext cx="73152" cy="6400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001768" y="1188720"/>
            <a:ext cx="1097280" cy="11887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1207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01768" y="162763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9480" y="1920240"/>
            <a:ext cx="73152" cy="6400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1188720"/>
            <a:ext cx="1097280" cy="1188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207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72200" y="162763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42632" y="1188720"/>
            <a:ext cx="1097280" cy="118872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9" name="Text 27"/>
          <p:cNvSpPr/>
          <p:nvPr/>
        </p:nvSpPr>
        <p:spPr>
          <a:xfrm>
            <a:off x="7342632" y="1207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42632" y="162763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514600"/>
            <a:ext cx="109728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2514600"/>
            <a:ext cx="109728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651760"/>
            <a:ext cx="1005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&amp; document user and business needs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90472" y="2514600"/>
            <a:ext cx="109728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5" name="Shape 33"/>
          <p:cNvSpPr/>
          <p:nvPr/>
        </p:nvSpPr>
        <p:spPr>
          <a:xfrm>
            <a:off x="1490472" y="2514600"/>
            <a:ext cx="1097280" cy="6400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6" name="Text 34"/>
          <p:cNvSpPr/>
          <p:nvPr/>
        </p:nvSpPr>
        <p:spPr>
          <a:xfrm>
            <a:off x="1536192" y="2651760"/>
            <a:ext cx="1005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cost, resources, time &amp; feasibility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60904" y="2514600"/>
            <a:ext cx="109728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8" name="Shape 36"/>
          <p:cNvSpPr/>
          <p:nvPr/>
        </p:nvSpPr>
        <p:spPr>
          <a:xfrm>
            <a:off x="2660904" y="2514600"/>
            <a:ext cx="1097280" cy="64008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9" name="Text 37"/>
          <p:cNvSpPr/>
          <p:nvPr/>
        </p:nvSpPr>
        <p:spPr>
          <a:xfrm>
            <a:off x="2706624" y="2651760"/>
            <a:ext cx="1005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architecture, database &amp; interface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31336" y="2514600"/>
            <a:ext cx="109728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1" name="Shape 39"/>
          <p:cNvSpPr/>
          <p:nvPr/>
        </p:nvSpPr>
        <p:spPr>
          <a:xfrm>
            <a:off x="3831336" y="2514600"/>
            <a:ext cx="109728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3877056" y="2651760"/>
            <a:ext cx="1005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build software using code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01768" y="2514600"/>
            <a:ext cx="109728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4" name="Shape 42"/>
          <p:cNvSpPr/>
          <p:nvPr/>
        </p:nvSpPr>
        <p:spPr>
          <a:xfrm>
            <a:off x="5001768" y="2514600"/>
            <a:ext cx="1097280" cy="6400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5" name="Text 43"/>
          <p:cNvSpPr/>
          <p:nvPr/>
        </p:nvSpPr>
        <p:spPr>
          <a:xfrm>
            <a:off x="5047488" y="2651760"/>
            <a:ext cx="1005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errors &amp; ensure quality standards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72200" y="2514600"/>
            <a:ext cx="109728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7" name="Shape 45"/>
          <p:cNvSpPr/>
          <p:nvPr/>
        </p:nvSpPr>
        <p:spPr>
          <a:xfrm>
            <a:off x="6172200" y="2514600"/>
            <a:ext cx="1097280" cy="640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2651760"/>
            <a:ext cx="1005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software to production environment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42632" y="2514600"/>
            <a:ext cx="109728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0" name="Shape 48"/>
          <p:cNvSpPr/>
          <p:nvPr/>
        </p:nvSpPr>
        <p:spPr>
          <a:xfrm>
            <a:off x="7342632" y="2514600"/>
            <a:ext cx="1097280" cy="64008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51" name="Text 49"/>
          <p:cNvSpPr/>
          <p:nvPr/>
        </p:nvSpPr>
        <p:spPr>
          <a:xfrm>
            <a:off x="7388352" y="2651760"/>
            <a:ext cx="1005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improve &amp; fix issues post-launch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REQUIREMENT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075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gathering, analyzing, and documenting what the software must do — from both user and business perspectives.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219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interviews &amp; workshops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Feasibility study (technical, financial, operational)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Documenting functional &amp; non-functional requirements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Creating Software Requirement Specification (SRS)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363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SRS Document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Case Diagrams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 Traceability Matrix (RTM)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0507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60% of software defects originate from poor requirements. Clear requirements save time, cost, and rework later.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051560"/>
            <a:ext cx="3017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051560"/>
            <a:ext cx="301752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06984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WHO'S INVOLVED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508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Business Analysts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 Managers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 Users / Clients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Project Managers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System Architects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794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QA Engineers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9144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PLANNING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Scope Definition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1261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outline what's included—and excluded—from the project.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7556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 Estimation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011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budget, resources, and time required for completion.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5054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Schedule &amp; Milestones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7614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project timeline with clear deliverable dates.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32552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 Assessment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35112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potential risks and create mitigation strategies.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4005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Project Plan Document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" y="426110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all planning info into a formal project plan.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"/>
            <a:ext cx="0" cy="4937760"/>
          </a:xfrm>
          <a:prstGeom prst="line">
            <a:avLst/>
          </a:prstGeom>
          <a:noFill/>
          <a:ln w="1905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0"/>
            <a:ext cx="4480560" cy="9144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SYSTEM DESIGN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64008" cy="6400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0424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 (HLD)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30759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architecture, modules, and data flow diagrams.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764792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764792"/>
            <a:ext cx="64008" cy="6400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801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 (LLD)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06654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component-level design, algorithms, and database schemas.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23744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523744"/>
            <a:ext cx="64008" cy="6400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82549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prototypes, and interface mockups for user experience.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282696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82696"/>
            <a:ext cx="64008" cy="6400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3192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58444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programming languages, frameworks, and tools to use.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041648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4041648"/>
            <a:ext cx="64008" cy="6400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40782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3434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authorization, and data protection strategies.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4: DEVELOPMENT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14223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69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Follow naming conventions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Write clean, readable code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724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version control (Git)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319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Conduct code reviews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913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Document code inline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743200" cy="3840480"/>
          </a:xfrm>
          <a:prstGeom prst="rect">
            <a:avLst/>
          </a:prstGeom>
          <a:solidFill>
            <a:srgbClr val="14223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051560"/>
            <a:ext cx="2743200" cy="38404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069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Methodologies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536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Agile / Scrum sprints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Waterfall for fixed scope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2724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CI/CD pipelines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560" y="3319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Test-Driven Development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3913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Pair programming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2743200" cy="3840480"/>
          </a:xfrm>
          <a:prstGeom prst="rect">
            <a:avLst/>
          </a:prstGeom>
          <a:solidFill>
            <a:srgbClr val="142236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1051560"/>
            <a:ext cx="2743200" cy="384048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069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536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IDEs: VS Code, IntelliJ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Git, GitHub, GitLab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2724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Docker, Kubernetes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63640" y="3319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JIRA for task tracking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63640" y="3913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Slack / Teams collab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2E7D32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18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Development is the longest phase — typically 40–60% of total project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5: TESTING &amp; QA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64008" cy="11887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Unit Testing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individual functions and components in isolation.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64008" cy="11887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Integration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270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modules work correctly when combined.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77440"/>
            <a:ext cx="64008" cy="11887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System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of the full application against requirements.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77440"/>
            <a:ext cx="64008" cy="11887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Acceptance Testing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8529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End-users validate the software meets their needs (UAT).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03320"/>
            <a:ext cx="64008" cy="11887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 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178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speed, scalability, and stability under load.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7033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03320"/>
            <a:ext cx="64008" cy="11887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4178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vulnerabilities, unauthorized access, and data risks.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6: DEPLOYMENT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Release Planning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1261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stakeholders for a smooth go-live.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7556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Environment Setup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011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production servers, databases, and networking.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5054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CI/CD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7614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build, test, and deploy using tools like Jenkins or GitHub Actions.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32552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Staged Rollout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35112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dev → staging → production to minimize risk.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4005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Post-Deploy Monitoring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" y="426110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logs, errors, and performance metrics immediately after launch.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"/>
            <a:ext cx="0" cy="4937760"/>
          </a:xfrm>
          <a:prstGeom prst="line">
            <a:avLst/>
          </a:prstGeom>
          <a:noFill/>
          <a:ln w="1905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0"/>
            <a:ext cx="4480560" cy="91440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7: MAINTENANCE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64008" cy="91440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Maintenance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38988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bugs and defects discovered after release.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01168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011680"/>
            <a:ext cx="64008" cy="91440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0848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Maintenance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39572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software to work in new environments or OS versions.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64008" cy="91440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090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Perfective Maintenance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4015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features and optimize performance based on feedback.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02336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4023360"/>
            <a:ext cx="64008" cy="91440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4096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4074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code and update dependencies to prevent future issues.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ADVANTAGES &amp; DISADVANTAGES OF SDLC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690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Better Software Quality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367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testing and reviews at each phase ensure reliable output.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Clear Planning &amp;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311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knows the timeline, budget, and deliverables upfront.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Reduced Project 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8254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issue detection prevents costly failures and rework.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2004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Easy Maintenance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4198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 code and processes simplify future updates.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7947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Team Alignment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014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roles and phases improve cross-team communication.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406908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93268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Time-Consuming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6367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phases mean the full cycle takes considerable time.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Costly Process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2311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documentation and reviews require significant resources.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Less Flexible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8254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accommodate changing requirements mid-development.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Requires Documentation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4198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paperwork at every stage can slow down progress.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7947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Not Ideal for Small Projects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014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overhead may outweigh benefits for simple builds.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914400"/>
            <a:ext cx="0" cy="411480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23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SDLC is More Than a Process — It's a Framework for Success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3258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08760"/>
            <a:ext cx="64008" cy="13258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81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You 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requirements and planning prevent 70%+ of costly rework.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08760"/>
            <a:ext cx="3931920" cy="13258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08760"/>
            <a:ext cx="64008" cy="13258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81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1600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Built 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at every phase—not just the end—produces superior software.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3258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64008" cy="13258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906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108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Matters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6118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documentation ensures maintainability for years to come.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931920" cy="13258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3017520"/>
            <a:ext cx="64008" cy="13258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0906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0" y="3108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Your Context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6118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Agile, Waterfall, or hybrid models based on project needs.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Adhyasha Mohanty  •  Arpita Das  •  Pallab Banerjee  •  Sahil Singh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Software Development Life Cycle</dc:title>
  <dc:subject>PptxGenJS Presentation</dc:subject>
  <dc:creator>PptxGenJS</dc:creator>
  <cp:lastModifiedBy>PptxGenJS</cp:lastModifiedBy>
  <cp:revision>1</cp:revision>
  <dcterms:created xsi:type="dcterms:W3CDTF">2026-05-29T03:59:04Z</dcterms:created>
  <dcterms:modified xsi:type="dcterms:W3CDTF">2026-05-29T03:59:04Z</dcterms:modified>
</cp:coreProperties>
</file>